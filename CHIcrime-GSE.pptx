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3" r:id="rId10"/>
    <p:sldId id="262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>
      <p:cViewPr>
        <p:scale>
          <a:sx n="115" d="100"/>
          <a:sy n="115" d="100"/>
        </p:scale>
        <p:origin x="472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65682-8171-F64D-AD82-5D61065F609D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3471A-F13F-A741-BA9D-A59FB197E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4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3471A-F13F-A741-BA9D-A59FB197EA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99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topic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3471A-F13F-A741-BA9D-A59FB197EA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82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94B8E-3A9B-8B45-BAD3-A7D9DD7C7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B9A84-B49A-2E1E-9662-0E98B3FB7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4C04-BF16-9E1B-5D75-8944E4CD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F6594-1B50-048D-8A21-65A3242E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A5D56-AB72-5931-B4B4-9EA8ADED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5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A4CA-88DB-64F9-3ECC-FBB1A75C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597FC-B29B-B1AB-E6BA-216C5E2CE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98FB5-0325-13E0-9818-DAA590247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A6925-E724-96FC-FA1A-30B9D7BB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48C8A-EAB4-1B84-DA57-61D0F45B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1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EC64D-6763-623B-B292-E380CF18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1C068-5D01-5879-EFF4-C7AFD84AA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FAB70-1EFA-B18A-AC79-730F4E91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DDBA3-121A-79F2-6761-D677869A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9E85C-156B-E314-46E0-3D5E7ADF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74A9-10E7-40DE-993D-E93BE966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BED22-566B-D6B8-DF63-5AC116BAE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5FD1D-7F58-7A10-CF3C-717C152FB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A985D-A5D1-3B01-46E4-939BABEC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15058-81BA-34B5-E32C-0234F1AD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D232C-4DC5-48E2-D287-B4B96E6A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9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4C98-8930-68F5-C787-82E91E18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7B7CF-D08D-9B1F-B828-0BFDB2746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8C304-3817-5ACD-2176-6E7091CD6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218C7-3706-1760-2354-EA720CC00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480AC-1263-DDB7-B77A-94CB91020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1DA59-A702-F84D-7F23-D62360AE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C42BE-BBC6-C5B1-46EA-32B9EA74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75F26-3E9C-65B4-1DCF-29E868D4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BDCF-795B-32AA-19BD-070CC079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A5CA9-AC09-A968-957B-597FE603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EC520-0FED-F45B-B70E-703ED46C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4DC51-30BA-139A-9475-6E797CA1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0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8D315-83BD-522E-4326-90DB0E9D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3411D-CD96-A920-D86A-B06096A9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759E-E724-0D81-D5AC-698241BD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9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55516-2FDA-DDB1-1B88-E4B63062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205B4-72CC-5C48-C406-813275B68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584FA-5570-500C-E0AE-1531301C4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AF618-F36E-3EDD-98D7-97A325F00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589A3-F1AA-60E8-CFE2-A4232FB4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A6156-7144-6F62-77BD-FC0322CE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0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55EC-D511-B403-8C81-112E0C76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5FECC-2589-51EF-2193-94BC2A9CB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E9968-272C-0F48-5B8E-A8EE4A396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C66D8-06CC-7A7A-8766-8D164C46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96C59-3B14-2450-C90B-3B639DD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5FC41-0F4F-34D6-B4C5-4D48B6E4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9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9C0F-8962-5A39-70AD-293CD7FE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69CDE-96EB-3D25-75A0-DF86791EA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197A3-9996-828B-F9AA-C6DCFDBC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8CDED-CD72-A63F-5AA7-CDF844066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721A1-552C-EB5B-7C86-CE6AF245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A71EA-C643-87BD-565A-F7D57DB80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48151-0BA5-D5A3-4898-9DB90FC90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122F4-84C8-0ED8-3C92-A54B8022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91F58-055E-EE97-39B4-38E2B01E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9DF43-7B41-B96E-8D61-FD3DE4DD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3D3AE-0348-ECBD-92A3-EA49D238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0E391-728E-806A-C1E5-DF9654A73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0960D-21A9-67D7-82C8-48EDB4F00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FC1B7-AC58-0347-A58F-FCF47CC8B05F}" type="datetimeFigureOut">
              <a:rPr lang="en-US" smtClean="0"/>
              <a:t>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16655-1FE9-E917-C088-4143C6F25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332E-321C-5E3C-124D-4D30B5F9B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CB737-9CA7-B64B-99EF-55D48FEF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6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4BD7-5E42-C9E3-C0D8-956C37D05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CHI crime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9F23C-F965-30E9-04EA-20D72895F6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>
                <a:effectLst/>
              </a:rPr>
              <a:t>An Analysis of Homicides and Non-Fatal Shootings in Chicago </a:t>
            </a:r>
          </a:p>
          <a:p>
            <a:endParaRPr lang="en-US" sz="1800" dirty="0"/>
          </a:p>
          <a:p>
            <a:r>
              <a:rPr lang="en-US" sz="1800" dirty="0">
                <a:effectLst/>
              </a:rPr>
              <a:t>By Gregory Edwards</a:t>
            </a:r>
          </a:p>
          <a:p>
            <a:r>
              <a:rPr lang="en-US" sz="1800" dirty="0"/>
              <a:t>2025.2.28</a:t>
            </a:r>
            <a:endParaRPr lang="en-US" dirty="0">
              <a:effectLst/>
            </a:endParaRPr>
          </a:p>
        </p:txBody>
      </p:sp>
      <p:pic>
        <p:nvPicPr>
          <p:cNvPr id="6" name="Video 5">
            <a:extLst>
              <a:ext uri="{FF2B5EF4-FFF2-40B4-BE49-F238E27FC236}">
                <a16:creationId xmlns:a16="http://schemas.microsoft.com/office/drawing/2014/main" id="{642B39CF-D85C-49D7-6B07-08C1E27F1FA4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7" name="Camera 6">
            <a:extLst>
              <a:ext uri="{FF2B5EF4-FFF2-40B4-BE49-F238E27FC236}">
                <a16:creationId xmlns:a16="http://schemas.microsoft.com/office/drawing/2014/main" id="{04196864-434D-1E0B-CE33-520FF4A2E1A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5809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0396-5DCC-9C94-6771-5F8C0E1E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5C41-A254-A680-F15A-D96FA5D17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14104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500" dirty="0"/>
              <a:t>In 2024 in Chicago* there were:</a:t>
            </a:r>
          </a:p>
          <a:p>
            <a:r>
              <a:rPr lang="en-US" sz="4500" dirty="0"/>
              <a:t>2726 shootings</a:t>
            </a:r>
          </a:p>
          <a:p>
            <a:r>
              <a:rPr lang="en-US" sz="4500" dirty="0"/>
              <a:t>501 shooting deaths</a:t>
            </a:r>
          </a:p>
          <a:p>
            <a:r>
              <a:rPr lang="en-US" sz="4500" dirty="0"/>
              <a:t>Representing an 18.4% lethality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500" dirty="0"/>
              <a:t>Many attempts have been made to track and reduce the </a:t>
            </a:r>
            <a:r>
              <a:rPr lang="en-US" sz="3500" b="1" dirty="0"/>
              <a:t>number</a:t>
            </a:r>
            <a:r>
              <a:rPr lang="en-US" sz="3500" dirty="0"/>
              <a:t> of shootings in Chicago. In contrast, I want to ask the question: Can we make these shootings </a:t>
            </a:r>
            <a:r>
              <a:rPr lang="en-US" sz="3500" b="1" dirty="0"/>
              <a:t>less lethal</a:t>
            </a:r>
            <a:r>
              <a:rPr lang="en-US" sz="3500" dirty="0"/>
              <a:t>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500" dirty="0">
                <a:effectLst/>
              </a:rPr>
              <a:t>Can we build a good predictive model that will tell us who is likely to be killed in a shooting, where and when? If so, then maybe we could imagine interventions that specifically address the lethality of shootings, as opposed to their prevalence.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500" dirty="0">
                <a:effectLst/>
              </a:rPr>
              <a:t>My project aims to create a classifier model that predicts whether someone victimized in a shooting will be killed. </a:t>
            </a:r>
            <a:endParaRPr lang="en-US" sz="3500" dirty="0"/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/>
              <a:t>* S</a:t>
            </a:r>
            <a:r>
              <a:rPr lang="en-US" sz="1800" dirty="0">
                <a:effectLst/>
              </a:rPr>
              <a:t>ource: City of Chicago. (2025). </a:t>
            </a:r>
            <a:r>
              <a:rPr lang="en-US" sz="1800" i="1" dirty="0">
                <a:effectLst/>
              </a:rPr>
              <a:t>Violence Reduction - Victims of Homicides and Non- Fatal Shootings </a:t>
            </a:r>
            <a:r>
              <a:rPr lang="en-US" sz="1800" dirty="0">
                <a:effectLst/>
              </a:rPr>
              <a:t>(Updated on February 24, 2025) [Data set]. </a:t>
            </a:r>
            <a:r>
              <a:rPr lang="en-US" sz="1800" dirty="0">
                <a:solidFill>
                  <a:srgbClr val="0C44A0"/>
                </a:solidFill>
                <a:effectLst/>
              </a:rPr>
              <a:t>https://</a:t>
            </a:r>
            <a:r>
              <a:rPr lang="en-US" sz="1800" dirty="0" err="1">
                <a:solidFill>
                  <a:srgbClr val="0C44A0"/>
                </a:solidFill>
                <a:effectLst/>
              </a:rPr>
              <a:t>data.cityofchicago.org</a:t>
            </a:r>
            <a:r>
              <a:rPr lang="en-US" sz="1800" dirty="0">
                <a:solidFill>
                  <a:srgbClr val="0C44A0"/>
                </a:solidFill>
                <a:effectLst/>
              </a:rPr>
              <a:t>/Public-Safety/Violence-Reduction-Victims-of- Homicides-and-Non-Fa/</a:t>
            </a:r>
            <a:r>
              <a:rPr lang="en-US" sz="1800" dirty="0" err="1">
                <a:solidFill>
                  <a:srgbClr val="0C44A0"/>
                </a:solidFill>
                <a:effectLst/>
              </a:rPr>
              <a:t>gumc-mgzr</a:t>
            </a:r>
            <a:r>
              <a:rPr lang="en-US" sz="1800" dirty="0">
                <a:solidFill>
                  <a:srgbClr val="0C44A0"/>
                </a:solidFill>
                <a:effectLst/>
              </a:rPr>
              <a:t>/</a:t>
            </a:r>
            <a:r>
              <a:rPr lang="en-US" sz="1800" dirty="0" err="1">
                <a:solidFill>
                  <a:srgbClr val="0C44A0"/>
                </a:solidFill>
                <a:effectLst/>
              </a:rPr>
              <a:t>about_data</a:t>
            </a:r>
            <a:r>
              <a:rPr lang="en-US" sz="1800" dirty="0">
                <a:solidFill>
                  <a:srgbClr val="0C44A0"/>
                </a:solidFill>
                <a:effectLst/>
              </a:rPr>
              <a:t> </a:t>
            </a:r>
            <a:endParaRPr lang="en-US" dirty="0">
              <a:effectLst/>
            </a:endParaRPr>
          </a:p>
        </p:txBody>
      </p:sp>
      <p:pic>
        <p:nvPicPr>
          <p:cNvPr id="6" name="Video 5">
            <a:extLst>
              <a:ext uri="{FF2B5EF4-FFF2-40B4-BE49-F238E27FC236}">
                <a16:creationId xmlns:a16="http://schemas.microsoft.com/office/drawing/2014/main" id="{B8739413-FB85-2676-3FD8-16B74D208F8A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6213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68B3-301A-D6E2-8E16-56F77434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A13C0-9C90-B43B-C652-276E9A108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 data source is the City of Chicago’s </a:t>
            </a:r>
            <a:r>
              <a:rPr lang="en-US" b="0" i="1" dirty="0">
                <a:effectLst/>
              </a:rPr>
              <a:t>Violence Reduction - Victims of Homicides and Non-Fatal Shootings</a:t>
            </a:r>
            <a:r>
              <a:rPr lang="en-US" b="0" dirty="0">
                <a:effectLst/>
              </a:rPr>
              <a:t> dataset*</a:t>
            </a:r>
            <a:endParaRPr lang="en-US" b="0" i="0" dirty="0">
              <a:effectLst/>
            </a:endParaRPr>
          </a:p>
          <a:p>
            <a:r>
              <a:rPr lang="en-US" b="0" i="0" dirty="0">
                <a:effectLst/>
              </a:rPr>
              <a:t>This dataset contains individual-level homicide and non-fatal shooting victimizations, including homicide data from 1991 to the present, and non-fatal shooting data from 2010 to the present (2010 is the earliest available year for shooting data).</a:t>
            </a:r>
          </a:p>
          <a:p>
            <a:r>
              <a:rPr lang="en-US" sz="1800" dirty="0">
                <a:effectLst/>
                <a:latin typeface=".SFNS"/>
              </a:rPr>
              <a:t>The data is 61,140 rows with 38 columns, in a file that's 17.7 MB. </a:t>
            </a:r>
          </a:p>
          <a:p>
            <a:r>
              <a:rPr lang="en-US" sz="1800" dirty="0">
                <a:latin typeface=".SFNS"/>
              </a:rPr>
              <a:t>Many of the columns are string object types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 Source: City of Chicago. (2025).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Violence Reduction - Victims of Homicides and Non- Fatal Shootings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(Updated on February 24, 2025)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[Data set].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C44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https://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C44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data.cityofchicago.org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C44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/Public-Safety/Violence-Reduction-Victims-of- Homicides-and-Non-Fa/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C44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gumc-mgzr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C44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C44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about_data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C44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Video 4">
            <a:extLst>
              <a:ext uri="{FF2B5EF4-FFF2-40B4-BE49-F238E27FC236}">
                <a16:creationId xmlns:a16="http://schemas.microsoft.com/office/drawing/2014/main" id="{7CE8A24B-543E-F39A-3586-98E1F903B35C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8113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E6DC-1C3D-1A29-F062-9DE6E5B5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4A7A0-B8B7-4D72-6FD2-554A055C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Some n</a:t>
            </a:r>
            <a:r>
              <a:rPr lang="en-US" sz="1800" dirty="0">
                <a:effectLst/>
              </a:rPr>
              <a:t>ecessary cleaning and prepping work ahead: </a:t>
            </a:r>
            <a:endParaRPr lang="en-US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</a:rPr>
              <a:t>Creating a target column. Currently, </a:t>
            </a:r>
            <a:r>
              <a:rPr lang="en-US" sz="1800" dirty="0"/>
              <a:t>f</a:t>
            </a:r>
            <a:r>
              <a:rPr lang="en-US" sz="1800" dirty="0">
                <a:effectLst/>
              </a:rPr>
              <a:t>atal shootings are indicated by a value in the VICTIMIZATION_PRIMARY column of "HOMICIDE" alongside a GUNSHOT_INJURY_I value of "YES." Non-fatal shootings are indicated by any other values in VICTIMIZATION_PRIMARY.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</a:rPr>
              <a:t>Converting type "string" columns into useful features — including breaking out RACE into a series of binary features.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</a:rPr>
              <a:t>Eliminating extraneous features, such as victim name.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</a:rPr>
              <a:t>Manipulating columns to get useful date/time and location features.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</a:rPr>
              <a:t>Dropping samples that have either nulls in important features, or will throw off the analysis (such as entries from before 2010, the first year that non-fatal shootings were tracked in this dataset.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My cleaned data has 46106 samples across 16 features and 1 target: FATAL.</a:t>
            </a:r>
          </a:p>
          <a:p>
            <a:pPr marL="0" indent="0">
              <a:buNone/>
            </a:pPr>
            <a:r>
              <a:rPr lang="en-US" sz="1800" dirty="0"/>
              <a:t>It takes up only 6.6 MB.</a:t>
            </a:r>
          </a:p>
          <a:p>
            <a:pPr marL="0" indent="0">
              <a:buNone/>
            </a:pPr>
            <a:endParaRPr lang="en-US" sz="1800" dirty="0">
              <a:effectLst/>
            </a:endParaRPr>
          </a:p>
          <a:p>
            <a:endParaRPr lang="en-US" dirty="0"/>
          </a:p>
        </p:txBody>
      </p:sp>
      <p:pic>
        <p:nvPicPr>
          <p:cNvPr id="5" name="Video 4">
            <a:extLst>
              <a:ext uri="{FF2B5EF4-FFF2-40B4-BE49-F238E27FC236}">
                <a16:creationId xmlns:a16="http://schemas.microsoft.com/office/drawing/2014/main" id="{78DA9DB9-513F-1E3B-F7BD-4CA258E1B2A5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6575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F353-B550-E478-EEFF-57C67596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pic>
        <p:nvPicPr>
          <p:cNvPr id="9" name="Picture 8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D73E2EF0-26DE-8B8B-E9DB-8FFBD1294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1204"/>
            <a:ext cx="3401662" cy="3066585"/>
          </a:xfrm>
          <a:prstGeom prst="rect">
            <a:avLst/>
          </a:prstGeom>
        </p:spPr>
      </p:pic>
      <p:pic>
        <p:nvPicPr>
          <p:cNvPr id="11" name="Picture 10" descr="A graph of multiple blue and orange bars&#10;&#10;AI-generated content may be incorrect.">
            <a:extLst>
              <a:ext uri="{FF2B5EF4-FFF2-40B4-BE49-F238E27FC236}">
                <a16:creationId xmlns:a16="http://schemas.microsoft.com/office/drawing/2014/main" id="{84EB62B4-D528-85D1-BA4C-06EBFBDB9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478" y="1700894"/>
            <a:ext cx="3401662" cy="3036895"/>
          </a:xfrm>
          <a:prstGeom prst="rect">
            <a:avLst/>
          </a:prstGeom>
        </p:spPr>
      </p:pic>
      <p:pic>
        <p:nvPicPr>
          <p:cNvPr id="14" name="Picture 1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5B1361B8-4810-B3F3-F31A-9BD13A7A8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018" y="1169399"/>
            <a:ext cx="3818572" cy="3568390"/>
          </a:xfrm>
          <a:prstGeom prst="rect">
            <a:avLst/>
          </a:prstGeom>
        </p:spPr>
      </p:pic>
      <p:pic>
        <p:nvPicPr>
          <p:cNvPr id="5" name="Video 4">
            <a:extLst>
              <a:ext uri="{FF2B5EF4-FFF2-40B4-BE49-F238E27FC236}">
                <a16:creationId xmlns:a16="http://schemas.microsoft.com/office/drawing/2014/main" id="{1A42D89B-4F6B-CAAA-02E7-A72759DFD02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77748D-878F-C572-EFB7-E131DF1C2C2A}"/>
              </a:ext>
            </a:extLst>
          </p:cNvPr>
          <p:cNvSpPr txBox="1"/>
          <p:nvPr/>
        </p:nvSpPr>
        <p:spPr>
          <a:xfrm>
            <a:off x="838200" y="5157106"/>
            <a:ext cx="7868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Fatality seems to have a demographic component</a:t>
            </a:r>
          </a:p>
        </p:txBody>
      </p:sp>
    </p:spTree>
    <p:extLst>
      <p:ext uri="{BB962C8B-B14F-4D97-AF65-F5344CB8AC3E}">
        <p14:creationId xmlns:p14="http://schemas.microsoft.com/office/powerpoint/2010/main" val="261432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47FA-C482-98AC-8B3F-746F3B0C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pic>
        <p:nvPicPr>
          <p:cNvPr id="5" name="Content Placeholder 4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7BEE6085-1566-A8A8-2FDF-457E82EE0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5994"/>
            <a:ext cx="544372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1096E9-FCB5-C628-E6C9-19019ABC2AD0}"/>
              </a:ext>
            </a:extLst>
          </p:cNvPr>
          <p:cNvSpPr txBox="1"/>
          <p:nvPr/>
        </p:nvSpPr>
        <p:spPr>
          <a:xfrm>
            <a:off x="838200" y="5727332"/>
            <a:ext cx="8161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addition to showing the correlation consistent with segregation,</a:t>
            </a:r>
          </a:p>
          <a:p>
            <a:r>
              <a:rPr lang="en-US" sz="2000" dirty="0"/>
              <a:t>the correlation matrix shows the influence of age, year and sex on fatality</a:t>
            </a:r>
          </a:p>
        </p:txBody>
      </p:sp>
    </p:spTree>
    <p:extLst>
      <p:ext uri="{BB962C8B-B14F-4D97-AF65-F5344CB8AC3E}">
        <p14:creationId xmlns:p14="http://schemas.microsoft.com/office/powerpoint/2010/main" val="681504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23D4-CE13-3511-B917-668DD837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Models: KNN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A24EA-6BA1-3909-2893-64696B82D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start by trying the k-nearest neighbors classifier because I have a large, many-featured dataset with weak correlations</a:t>
            </a:r>
          </a:p>
          <a:p>
            <a:r>
              <a:rPr lang="en-US" dirty="0"/>
              <a:t>A trial of a k=5 KNN gives me an 80% accuracy rate: not too bad</a:t>
            </a:r>
          </a:p>
          <a:p>
            <a:r>
              <a:rPr lang="en-US" dirty="0"/>
              <a:t>Tuning k by looking at k=1 to k=20 shows the accuracy maxing out at about 83% (and reaching a decent 82.3% at k=6)</a:t>
            </a:r>
          </a:p>
        </p:txBody>
      </p:sp>
      <p:pic>
        <p:nvPicPr>
          <p:cNvPr id="5" name="Video 4">
            <a:extLst>
              <a:ext uri="{FF2B5EF4-FFF2-40B4-BE49-F238E27FC236}">
                <a16:creationId xmlns:a16="http://schemas.microsoft.com/office/drawing/2014/main" id="{355F521A-6E9E-74A8-33BB-91F35EF0FAF4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C25A7214-2EFD-ADD3-28B4-66A49DA2B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432" y="4002717"/>
            <a:ext cx="3701895" cy="227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5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9E95-252B-E162-9B3C-E646E351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A405-4F0B-B8E7-384A-40758BC2B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Models: AdaBoost and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77D1-BF8E-5F3A-D6EF-300064A17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compare my KNN model, I experimented with AdaBoost and a Support Vector Machine models</a:t>
            </a:r>
          </a:p>
          <a:p>
            <a:r>
              <a:rPr lang="en-US" dirty="0"/>
              <a:t>With n=300 Decision Tree weak estimators, AdaBoost gave me an accuracy of 82.8%</a:t>
            </a:r>
          </a:p>
          <a:p>
            <a:r>
              <a:rPr lang="en-US" dirty="0"/>
              <a:t>Tuning n improved the accuracy to 83.2% with n=50 estimators</a:t>
            </a:r>
          </a:p>
          <a:p>
            <a:r>
              <a:rPr lang="en-US" dirty="0"/>
              <a:t>An “out of the box” SVM model also gave me an accuracy of 83.2%</a:t>
            </a:r>
          </a:p>
          <a:p>
            <a:r>
              <a:rPr lang="en-US" dirty="0"/>
              <a:t>When I tried to tune the SVM for C and gamma, my machine basically locked up and I had to kill the process</a:t>
            </a:r>
          </a:p>
          <a:p>
            <a:r>
              <a:rPr lang="en-US" dirty="0"/>
              <a:t>Given the increased complexity and minimal improvement</a:t>
            </a:r>
            <a:br>
              <a:rPr lang="en-US" dirty="0"/>
            </a:br>
            <a:r>
              <a:rPr lang="en-US" dirty="0"/>
              <a:t>over KNN, I am sticking with the KNN model </a:t>
            </a:r>
          </a:p>
        </p:txBody>
      </p:sp>
      <p:pic>
        <p:nvPicPr>
          <p:cNvPr id="5" name="Video 4">
            <a:extLst>
              <a:ext uri="{FF2B5EF4-FFF2-40B4-BE49-F238E27FC236}">
                <a16:creationId xmlns:a16="http://schemas.microsoft.com/office/drawing/2014/main" id="{A5C648A9-E6B8-A157-7BAB-2E91680D84A0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2684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A1340-F412-A572-79CF-14263DF4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4990D-62AF-A4E1-81F6-5BB67FB2A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0" dirty="0">
                <a:effectLst/>
              </a:rPr>
              <a:t>Maximum accuracy by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KNN: 0.832 (with 20 nearest neighbors)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AdaBoost: 0.832 (with 50 estimators)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>
                <a:effectLst/>
              </a:rPr>
              <a:t>SVM: 0.83</a:t>
            </a:r>
          </a:p>
          <a:p>
            <a:pPr marL="0" indent="0">
              <a:buNone/>
            </a:pPr>
            <a:br>
              <a:rPr lang="en-US" sz="1400" b="0" dirty="0">
                <a:effectLst/>
              </a:rPr>
            </a:br>
            <a:r>
              <a:rPr lang="en-US" sz="1400" b="0" dirty="0">
                <a:effectLst/>
              </a:rPr>
              <a:t>Running SVM took much longer than the other two models (unsurprising, given that SVM is known to be poor with large datasets). In fact, when I tried to do an automated tuning of the SVM model for C and gamma, the process was taking so long that I just killed it. So SVM gets ruled out as an efficient model.</a:t>
            </a:r>
          </a:p>
          <a:p>
            <a:pPr marL="0" indent="0">
              <a:buNone/>
            </a:pPr>
            <a:br>
              <a:rPr lang="en-US" sz="1400" b="0" dirty="0">
                <a:effectLst/>
              </a:rPr>
            </a:br>
            <a:r>
              <a:rPr lang="en-US" sz="1400" b="0" dirty="0">
                <a:effectLst/>
              </a:rPr>
              <a:t>Given that KNN performed faster than AdaBoost, the fact that AdaBoost</a:t>
            </a:r>
            <a:r>
              <a:rPr lang="en-US" sz="1400" dirty="0"/>
              <a:t> </a:t>
            </a:r>
            <a:r>
              <a:rPr lang="en-US" sz="1400" b="0" dirty="0">
                <a:effectLst/>
              </a:rPr>
              <a:t>is more prone to overfitting, and the equality of the accuracy scores, my preference is to choose the KNN model.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Weighted averages for KNN with k=6:</a:t>
            </a:r>
          </a:p>
          <a:p>
            <a:r>
              <a:rPr lang="en-US" sz="1400" dirty="0"/>
              <a:t>Precision: 73%</a:t>
            </a:r>
          </a:p>
          <a:p>
            <a:r>
              <a:rPr lang="en-US" sz="1400" dirty="0"/>
              <a:t>Recall: 83%</a:t>
            </a:r>
          </a:p>
          <a:p>
            <a:r>
              <a:rPr lang="en-US" sz="1400" dirty="0"/>
              <a:t>F1 score: 76%</a:t>
            </a:r>
          </a:p>
        </p:txBody>
      </p:sp>
      <p:pic>
        <p:nvPicPr>
          <p:cNvPr id="5" name="Video 4">
            <a:extLst>
              <a:ext uri="{FF2B5EF4-FFF2-40B4-BE49-F238E27FC236}">
                <a16:creationId xmlns:a16="http://schemas.microsoft.com/office/drawing/2014/main" id="{2CCB5533-360C-1639-9AFD-A6820A2A285B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209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22E8-8DCA-9746-EAD8-A47CB6D2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analysis</a:t>
            </a:r>
          </a:p>
        </p:txBody>
      </p:sp>
      <p:pic>
        <p:nvPicPr>
          <p:cNvPr id="7" name="Content Placeholder 6" descr="A graph with numbers and a bar chart&#10;&#10;AI-generated content may be incorrect.">
            <a:extLst>
              <a:ext uri="{FF2B5EF4-FFF2-40B4-BE49-F238E27FC236}">
                <a16:creationId xmlns:a16="http://schemas.microsoft.com/office/drawing/2014/main" id="{25A3ED92-D2D9-B8B0-7529-7D3E25C5C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2366" y="1253331"/>
            <a:ext cx="5701140" cy="4351338"/>
          </a:xfrm>
        </p:spPr>
      </p:pic>
      <p:pic>
        <p:nvPicPr>
          <p:cNvPr id="5" name="Video 4">
            <a:extLst>
              <a:ext uri="{FF2B5EF4-FFF2-40B4-BE49-F238E27FC236}">
                <a16:creationId xmlns:a16="http://schemas.microsoft.com/office/drawing/2014/main" id="{C37DE737-116E-FF9D-0DA5-7FA6193B7731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303819-BC95-785D-2FDD-D286194318DF}"/>
              </a:ext>
            </a:extLst>
          </p:cNvPr>
          <p:cNvSpPr txBox="1"/>
          <p:nvPr/>
        </p:nvSpPr>
        <p:spPr>
          <a:xfrm>
            <a:off x="838200" y="1690688"/>
            <a:ext cx="51741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effectLst/>
              </a:rPr>
              <a:t>Finding the significant features</a:t>
            </a:r>
          </a:p>
          <a:p>
            <a:endParaRPr lang="en-US" dirty="0"/>
          </a:p>
          <a:p>
            <a:r>
              <a:rPr lang="en-US" sz="1800" dirty="0">
                <a:effectLst/>
                <a:latin typeface=".SFNS"/>
              </a:rPr>
              <a:t>Going back to the KNN model, now I want to check the feature importance and compare it to my intuitions from my original correlation matrix. </a:t>
            </a:r>
            <a:endParaRPr lang="en-US" dirty="0">
              <a:effectLst/>
            </a:endParaRPr>
          </a:p>
          <a:p>
            <a:endParaRPr lang="en-US" dirty="0"/>
          </a:p>
          <a:p>
            <a:r>
              <a:rPr lang="en-US" sz="1800" dirty="0">
                <a:effectLst/>
                <a:latin typeface=".SFNS"/>
              </a:rPr>
              <a:t>To recall, my original correlation matrix highlighted the features IS_MALE, IS_WHITE, AGE_MEAN and YEAR. </a:t>
            </a:r>
          </a:p>
          <a:p>
            <a:endParaRPr lang="en-US" dirty="0">
              <a:effectLst/>
            </a:endParaRPr>
          </a:p>
          <a:p>
            <a:r>
              <a:rPr lang="en-US" sz="1800" dirty="0">
                <a:effectLst/>
                <a:latin typeface=".SFNS"/>
              </a:rPr>
              <a:t>In my KNN model, however, the sex and race features appear to be entirely irrelevant, and WARD, BEAT, HOUR, MONTH and DAY_OF_WEEK make a reasonable showing. 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23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73A3-D6A9-9A90-C7FB-2710CD3C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A6D8-B8C8-0018-9D65-028463B0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FD043-BBFC-3E1B-321D-F9D004D0A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LEARNINGS</a:t>
            </a:r>
          </a:p>
          <a:p>
            <a:pPr lvl="1"/>
            <a:r>
              <a:rPr lang="en-US" dirty="0"/>
              <a:t>Other than age, demographic features don’t seem predictive</a:t>
            </a:r>
          </a:p>
          <a:p>
            <a:pPr lvl="1"/>
            <a:r>
              <a:rPr lang="en-US" dirty="0"/>
              <a:t>Time and place ARE predictive</a:t>
            </a:r>
          </a:p>
          <a:p>
            <a:r>
              <a:rPr lang="en-US" dirty="0"/>
              <a:t>WHAT DIDN’T WORK</a:t>
            </a:r>
          </a:p>
          <a:p>
            <a:pPr lvl="1"/>
            <a:r>
              <a:rPr lang="en-US" dirty="0"/>
              <a:t>The correlation between race and fatality somehow vanished in the model</a:t>
            </a:r>
          </a:p>
          <a:p>
            <a:r>
              <a:rPr lang="en-US" dirty="0"/>
              <a:t>WHAT COULD BE IMPROVED</a:t>
            </a:r>
          </a:p>
          <a:p>
            <a:pPr lvl="1"/>
            <a:r>
              <a:rPr lang="en-US" dirty="0"/>
              <a:t>I should be able to improve the model by isolating better features</a:t>
            </a:r>
            <a:br>
              <a:rPr lang="en-US" dirty="0"/>
            </a:br>
            <a:r>
              <a:rPr lang="en-US" dirty="0"/>
              <a:t>related to time and place — and, I believe, demographics</a:t>
            </a:r>
          </a:p>
          <a:p>
            <a:pPr lvl="1"/>
            <a:r>
              <a:rPr lang="en-US" dirty="0"/>
              <a:t>Given the stakes are literally life and death, I would want to</a:t>
            </a:r>
            <a:br>
              <a:rPr lang="en-US" dirty="0"/>
            </a:br>
            <a:r>
              <a:rPr lang="en-US" dirty="0"/>
              <a:t>focus on improving the recall of my model</a:t>
            </a:r>
          </a:p>
        </p:txBody>
      </p:sp>
      <p:pic>
        <p:nvPicPr>
          <p:cNvPr id="5" name="Video 4">
            <a:extLst>
              <a:ext uri="{FF2B5EF4-FFF2-40B4-BE49-F238E27FC236}">
                <a16:creationId xmlns:a16="http://schemas.microsoft.com/office/drawing/2014/main" id="{8ECA697C-CBC4-BD6F-4D9B-C0C530045001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8276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7B28-24D1-13AB-E241-FE710566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1D42-345D-6853-224B-3B815735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AF78C-41BD-361D-D3E7-898CD0EDF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Final thoughts:</a:t>
            </a:r>
          </a:p>
          <a:p>
            <a:pPr>
              <a:lnSpc>
                <a:spcPct val="120000"/>
              </a:lnSpc>
            </a:pPr>
            <a:r>
              <a:rPr lang="en-US" b="0" dirty="0">
                <a:effectLst/>
              </a:rPr>
              <a:t>Where and when you were when you got shot matter a lot more than who you are — unless you're old </a:t>
            </a:r>
          </a:p>
          <a:p>
            <a:pPr>
              <a:lnSpc>
                <a:spcPct val="120000"/>
              </a:lnSpc>
            </a:pPr>
            <a:r>
              <a:rPr lang="en-US" b="0" dirty="0">
                <a:effectLst/>
              </a:rPr>
              <a:t>The relevance of ward and police beat suggests to me that there are some emergency services units that are underperforming others</a:t>
            </a:r>
          </a:p>
          <a:p>
            <a:pPr>
              <a:lnSpc>
                <a:spcPct val="120000"/>
              </a:lnSpc>
            </a:pPr>
            <a:r>
              <a:rPr lang="en-US" b="0" dirty="0">
                <a:effectLst/>
              </a:rPr>
              <a:t>With the passage of years, fatality percentages are getting</a:t>
            </a:r>
            <a:br>
              <a:rPr lang="en-US" b="0">
                <a:effectLst/>
              </a:rPr>
            </a:br>
            <a:r>
              <a:rPr lang="en-US" b="0">
                <a:effectLst/>
              </a:rPr>
              <a:t>worse — so </a:t>
            </a:r>
            <a:r>
              <a:rPr lang="en-US" b="0" dirty="0">
                <a:effectLst/>
              </a:rPr>
              <a:t>this is not a problem we can ignore</a:t>
            </a:r>
          </a:p>
        </p:txBody>
      </p:sp>
      <p:pic>
        <p:nvPicPr>
          <p:cNvPr id="5" name="Video 4">
            <a:extLst>
              <a:ext uri="{FF2B5EF4-FFF2-40B4-BE49-F238E27FC236}">
                <a16:creationId xmlns:a16="http://schemas.microsoft.com/office/drawing/2014/main" id="{92058B89-B3E7-86D5-7380-889B8C6DF312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91364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1113</Words>
  <Application>Microsoft Macintosh PowerPoint</Application>
  <PresentationFormat>Widescreen</PresentationFormat>
  <Paragraphs>85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.SFNS</vt:lpstr>
      <vt:lpstr>Aptos</vt:lpstr>
      <vt:lpstr>Aptos Display</vt:lpstr>
      <vt:lpstr>Arial</vt:lpstr>
      <vt:lpstr>Office Theme</vt:lpstr>
      <vt:lpstr>CHI crime</vt:lpstr>
      <vt:lpstr>Project topic</vt:lpstr>
      <vt:lpstr>Data</vt:lpstr>
      <vt:lpstr>Data cleaning</vt:lpstr>
      <vt:lpstr>Exploratory data analysis</vt:lpstr>
      <vt:lpstr>Exploratory data analysis</vt:lpstr>
      <vt:lpstr>Models: KNN</vt:lpstr>
      <vt:lpstr>Models: AdaBoost and SVM</vt:lpstr>
      <vt:lpstr>Results and analysis</vt:lpstr>
      <vt:lpstr>Results and analysis</vt:lpstr>
      <vt:lpstr>Discussion and conclusion</vt:lpstr>
      <vt:lpstr>Discussion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Edwards</dc:creator>
  <cp:lastModifiedBy>Gregory Edwards</cp:lastModifiedBy>
  <cp:revision>18</cp:revision>
  <dcterms:created xsi:type="dcterms:W3CDTF">2025-02-28T19:52:17Z</dcterms:created>
  <dcterms:modified xsi:type="dcterms:W3CDTF">2025-02-28T23:43:29Z</dcterms:modified>
</cp:coreProperties>
</file>